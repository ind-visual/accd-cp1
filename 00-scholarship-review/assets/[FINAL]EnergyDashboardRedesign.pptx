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Space Mono"/>
      <p:regular r:id="rId20"/>
      <p:bold r:id="rId21"/>
      <p:italic r:id="rId22"/>
      <p:boldItalic r:id="rId23"/>
    </p:embeddedFont>
    <p:embeddedFont>
      <p:font typeface="Poppins"/>
      <p:regular r:id="rId24"/>
      <p:bold r:id="rId25"/>
      <p:italic r:id="rId26"/>
      <p:boldItalic r:id="rId27"/>
    </p:embeddedFont>
    <p:embeddedFont>
      <p:font typeface="Poppins Light"/>
      <p:regular r:id="rId28"/>
      <p:bold r:id="rId29"/>
      <p:italic r:id="rId30"/>
      <p:boldItalic r:id="rId31"/>
    </p:embeddedFont>
    <p:embeddedFont>
      <p:font typeface="Poppins Medium"/>
      <p:regular r:id="rId32"/>
      <p:bold r:id="rId33"/>
      <p:italic r:id="rId34"/>
      <p:boldItalic r:id="rId35"/>
    </p:embeddedFont>
    <p:embeddedFont>
      <p:font typeface="Poppins SemiBold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  <p15:guide id="3" orient="horz">
          <p15:clr>
            <a:srgbClr val="747775"/>
          </p15:clr>
        </p15:guide>
        <p15:guide id="4" orient="horz" pos="288">
          <p15:clr>
            <a:srgbClr val="747775"/>
          </p15:clr>
        </p15:guide>
        <p15:guide id="5">
          <p15:clr>
            <a:srgbClr val="747775"/>
          </p15:clr>
        </p15:guide>
        <p15:guide id="6" pos="289">
          <p15:clr>
            <a:srgbClr val="747775"/>
          </p15:clr>
        </p15:guide>
        <p15:guide id="7" pos="5471">
          <p15:clr>
            <a:srgbClr val="747775"/>
          </p15:clr>
        </p15:guide>
        <p15:guide id="8" pos="472">
          <p15:clr>
            <a:srgbClr val="747775"/>
          </p15:clr>
        </p15:guide>
        <p15:guide id="9" pos="5760">
          <p15:clr>
            <a:srgbClr val="747775"/>
          </p15:clr>
        </p15:guide>
        <p15:guide id="10" orient="horz" pos="1016">
          <p15:clr>
            <a:srgbClr val="747775"/>
          </p15:clr>
        </p15:guide>
        <p15:guide id="11" pos="5288">
          <p15:clr>
            <a:srgbClr val="747775"/>
          </p15:clr>
        </p15:guide>
        <p15:guide id="12" orient="horz" pos="913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orient="horz"/>
        <p:guide pos="288" orient="horz"/>
        <p:guide/>
        <p:guide pos="289"/>
        <p:guide pos="5471"/>
        <p:guide pos="472"/>
        <p:guide pos="5760"/>
        <p:guide pos="1016" orient="horz"/>
        <p:guide pos="5288"/>
        <p:guide pos="913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paceMono-regular.fntdata"/><Relationship Id="rId22" Type="http://schemas.openxmlformats.org/officeDocument/2006/relationships/font" Target="fonts/SpaceMono-italic.fntdata"/><Relationship Id="rId21" Type="http://schemas.openxmlformats.org/officeDocument/2006/relationships/font" Target="fonts/SpaceMono-bold.fntdata"/><Relationship Id="rId24" Type="http://schemas.openxmlformats.org/officeDocument/2006/relationships/font" Target="fonts/Poppins-regular.fntdata"/><Relationship Id="rId23" Type="http://schemas.openxmlformats.org/officeDocument/2006/relationships/font" Target="fonts/SpaceMon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italic.fntdata"/><Relationship Id="rId25" Type="http://schemas.openxmlformats.org/officeDocument/2006/relationships/font" Target="fonts/Poppins-bold.fntdata"/><Relationship Id="rId28" Type="http://schemas.openxmlformats.org/officeDocument/2006/relationships/font" Target="fonts/PoppinsLight-regular.fntdata"/><Relationship Id="rId27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Ligh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Light-boldItalic.fntdata"/><Relationship Id="rId30" Type="http://schemas.openxmlformats.org/officeDocument/2006/relationships/font" Target="fonts/PoppinsLight-italic.fntdata"/><Relationship Id="rId11" Type="http://schemas.openxmlformats.org/officeDocument/2006/relationships/slide" Target="slides/slide6.xml"/><Relationship Id="rId33" Type="http://schemas.openxmlformats.org/officeDocument/2006/relationships/font" Target="fonts/PoppinsMedium-bold.fntdata"/><Relationship Id="rId10" Type="http://schemas.openxmlformats.org/officeDocument/2006/relationships/slide" Target="slides/slide5.xml"/><Relationship Id="rId32" Type="http://schemas.openxmlformats.org/officeDocument/2006/relationships/font" Target="fonts/PoppinsMedium-regular.fntdata"/><Relationship Id="rId13" Type="http://schemas.openxmlformats.org/officeDocument/2006/relationships/slide" Target="slides/slide8.xml"/><Relationship Id="rId35" Type="http://schemas.openxmlformats.org/officeDocument/2006/relationships/font" Target="fonts/PoppinsMedium-boldItalic.fntdata"/><Relationship Id="rId12" Type="http://schemas.openxmlformats.org/officeDocument/2006/relationships/slide" Target="slides/slide7.xml"/><Relationship Id="rId34" Type="http://schemas.openxmlformats.org/officeDocument/2006/relationships/font" Target="fonts/PoppinsMedium-italic.fntdata"/><Relationship Id="rId15" Type="http://schemas.openxmlformats.org/officeDocument/2006/relationships/slide" Target="slides/slide10.xml"/><Relationship Id="rId37" Type="http://schemas.openxmlformats.org/officeDocument/2006/relationships/font" Target="fonts/PoppinsSemiBold-bold.fntdata"/><Relationship Id="rId14" Type="http://schemas.openxmlformats.org/officeDocument/2006/relationships/slide" Target="slides/slide9.xml"/><Relationship Id="rId36" Type="http://schemas.openxmlformats.org/officeDocument/2006/relationships/font" Target="fonts/PoppinsSemiBold-regular.fntdata"/><Relationship Id="rId17" Type="http://schemas.openxmlformats.org/officeDocument/2006/relationships/slide" Target="slides/slide12.xml"/><Relationship Id="rId39" Type="http://schemas.openxmlformats.org/officeDocument/2006/relationships/font" Target="fonts/PoppinsSemiBold-boldItalic.fntdata"/><Relationship Id="rId16" Type="http://schemas.openxmlformats.org/officeDocument/2006/relationships/slide" Target="slides/slide11.xml"/><Relationship Id="rId38" Type="http://schemas.openxmlformats.org/officeDocument/2006/relationships/font" Target="fonts/PoppinsSemiBold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9d00c055b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9d00c055b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41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Energy dashboards measure what you use, but don’t help you make smarter choices about costs and savings</a:t>
            </a:r>
            <a:endParaRPr>
              <a:solidFill>
                <a:schemeClr val="dk1"/>
              </a:solidFill>
            </a:endParaRPr>
          </a:p>
          <a:p>
            <a:pPr indent="-1841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 decided to change this </a:t>
            </a:r>
            <a:r>
              <a:rPr lang="en">
                <a:solidFill>
                  <a:schemeClr val="dk1"/>
                </a:solidFill>
              </a:rPr>
              <a:t>passive viewing experience to a more </a:t>
            </a:r>
            <a:r>
              <a:rPr lang="en">
                <a:solidFill>
                  <a:schemeClr val="dk1"/>
                </a:solidFill>
              </a:rPr>
              <a:t>motivating</a:t>
            </a:r>
            <a:r>
              <a:rPr lang="en">
                <a:solidFill>
                  <a:schemeClr val="dk1"/>
                </a:solidFill>
              </a:rPr>
              <a:t> and sustainable one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d00c055b3_1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d00c055b3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41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Meet Aisha, she’s planning for a family trip and </a:t>
            </a:r>
            <a:r>
              <a:rPr lang="en">
                <a:solidFill>
                  <a:schemeClr val="dk1"/>
                </a:solidFill>
              </a:rPr>
              <a:t>wants to save $100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She </a:t>
            </a:r>
            <a:r>
              <a:rPr lang="en">
                <a:solidFill>
                  <a:schemeClr val="dk1"/>
                </a:solidFill>
              </a:rPr>
              <a:t>opens her dashboard to see where she can cut costs. A bar chart displays A/C hours but nothing else, she hits a dead end. She adjusts her thermostat, and eventually gives up feeling underwhelmed, confused, and frustrated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Research shows </a:t>
            </a:r>
            <a:r>
              <a:rPr b="1" lang="en">
                <a:solidFill>
                  <a:schemeClr val="dk1"/>
                </a:solidFill>
              </a:rPr>
              <a:t>47%</a:t>
            </a:r>
            <a:r>
              <a:rPr lang="en">
                <a:solidFill>
                  <a:schemeClr val="dk1"/>
                </a:solidFill>
              </a:rPr>
              <a:t> of Google Nest owners think smart appliances in their home can </a:t>
            </a:r>
            <a:r>
              <a:rPr b="1" lang="en">
                <a:solidFill>
                  <a:schemeClr val="dk1"/>
                </a:solidFill>
              </a:rPr>
              <a:t>save them money</a:t>
            </a:r>
            <a:r>
              <a:rPr lang="en">
                <a:solidFill>
                  <a:schemeClr val="dk1"/>
                </a:solidFill>
              </a:rPr>
              <a:t>, but smart-thermostat </a:t>
            </a:r>
            <a:r>
              <a:rPr b="1" lang="en">
                <a:solidFill>
                  <a:schemeClr val="dk1"/>
                </a:solidFill>
              </a:rPr>
              <a:t>savings average only 5-15%, and engagement declines over time.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d00c055b3_1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d00c055b3_1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41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Mapping Aisha’s </a:t>
            </a:r>
            <a:r>
              <a:rPr lang="en" sz="1200">
                <a:solidFill>
                  <a:schemeClr val="dk1"/>
                </a:solidFill>
              </a:rPr>
              <a:t>key touchpoints show where and why her motivation drops.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The dashboard lacked visibility of progress, clear feedback, and meaningful data for Aisha to act on her goal.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The new design needed to feel clear, exciting, and feel motivating at uncertain and frustrating low points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—-----------------------------------------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Presentation Feedback: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Love this, haven’t seen an emotional timelin laid out like this to show task pain points and tie to heurstics for next page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d00c055b3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9d00c055b3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41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>
                <a:solidFill>
                  <a:schemeClr val="dk1"/>
                </a:solidFill>
              </a:rPr>
              <a:t>In</a:t>
            </a:r>
            <a:r>
              <a:rPr lang="en" sz="1200">
                <a:solidFill>
                  <a:schemeClr val="dk1"/>
                </a:solidFill>
              </a:rPr>
              <a:t> heuristic analysis, there were 3 main issues: Aisha had to mentally imagine what data would be helpful. she was unclear about next steps, and faced unnecessary workload for what should be a simple decision.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1841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>
                <a:solidFill>
                  <a:schemeClr val="dk1"/>
                </a:solidFill>
              </a:rPr>
              <a:t>I wanted to aiding decision-making, reduce cognitive load, and automate repetitive thinking.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1841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>
                <a:solidFill>
                  <a:schemeClr val="dk1"/>
                </a:solidFill>
              </a:rPr>
              <a:t>Cost and savings were the clear priority, while creating simplified guidance, quick wins, and sustainable habits.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d00c055b3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9d00c055b3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41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>
                <a:solidFill>
                  <a:schemeClr val="dk1"/>
                </a:solidFill>
              </a:rPr>
              <a:t>The new flow showed cost, energy barcharts and savings goals, </a:t>
            </a:r>
            <a:endParaRPr sz="1200">
              <a:solidFill>
                <a:schemeClr val="dk1"/>
              </a:solidFill>
            </a:endParaRPr>
          </a:p>
          <a:p>
            <a:pPr indent="-1841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>
                <a:solidFill>
                  <a:schemeClr val="dk1"/>
                </a:solidFill>
              </a:rPr>
              <a:t>The Savings page Showcased a progress ring with active and new savings. </a:t>
            </a:r>
            <a:endParaRPr sz="1200">
              <a:solidFill>
                <a:schemeClr val="dk1"/>
              </a:solidFill>
            </a:endParaRPr>
          </a:p>
          <a:p>
            <a:pPr indent="-1841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>
                <a:solidFill>
                  <a:schemeClr val="dk1"/>
                </a:solidFill>
              </a:rPr>
              <a:t>The Achievements page motivates through daily streaks, a leaf point systems, and a neighborhood leaderboard ranking. </a:t>
            </a:r>
            <a:endParaRPr sz="1200">
              <a:solidFill>
                <a:schemeClr val="dk1"/>
              </a:solidFill>
            </a:endParaRPr>
          </a:p>
          <a:p>
            <a:pPr indent="-1841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>
                <a:solidFill>
                  <a:schemeClr val="dk1"/>
                </a:solidFill>
              </a:rPr>
              <a:t>The “Trend Report,” showed longer term insights that keeps users engaged as they repeat their savings flow.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1841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>
                <a:solidFill>
                  <a:schemeClr val="dk1"/>
                </a:solidFill>
              </a:rPr>
              <a:t>These features add light touch motivation and progress — changing a blank dashboard into a personal, active, and rewarding experience.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d00c055b3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9d00c055b3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41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 ran a u</a:t>
            </a:r>
            <a:r>
              <a:rPr lang="en"/>
              <a:t>sability test to evaluate the new design. initial feedback was positive, with minor tweaks to help clarify cost vs savings even further.</a:t>
            </a:r>
            <a:br>
              <a:rPr lang="en"/>
            </a:br>
            <a:endParaRPr/>
          </a:p>
          <a:p>
            <a:pPr indent="-1841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Visual design felt ‘clean,’ and ‘satisfying,’ With savings goals that felt exciting and motivating.</a:t>
            </a:r>
            <a:br>
              <a:rPr lang="en"/>
            </a:br>
            <a:endParaRPr/>
          </a:p>
          <a:p>
            <a:pPr indent="-1841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The new, polished design </a:t>
            </a:r>
            <a:r>
              <a:rPr lang="en"/>
              <a:t>focused</a:t>
            </a:r>
            <a:r>
              <a:rPr lang="en"/>
              <a:t> on visual clarity on cost vs. savings cards and used icons as simplified visual</a:t>
            </a:r>
            <a:r>
              <a:rPr lang="en"/>
              <a:t> anchors throughout the experience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—-----------------------------------------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Presentation Feedback: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Leaderboard seemed like an anomaly and didn’t seem to fit to the core user task.  Good to save for appendix.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good to tie heuristics/design principles to the final improvements on features on the final design/prototype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d00c055b3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9d00c055b3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41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Overall, </a:t>
            </a:r>
            <a:r>
              <a:rPr lang="en"/>
              <a:t>users finished core savings task easily and were excited by cost and savings progress.</a:t>
            </a:r>
            <a:endParaRPr/>
          </a:p>
          <a:p>
            <a:pPr indent="-1841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The visual appeal also made users feel confident and rewarded.</a:t>
            </a:r>
            <a:br>
              <a:rPr lang="en"/>
            </a:br>
            <a:endParaRPr/>
          </a:p>
          <a:p>
            <a:pPr indent="-1841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If I had more time, I’d add live feedback to the Savings Page and onboarding tooltips.</a:t>
            </a:r>
            <a:br>
              <a:rPr lang="en"/>
            </a:br>
            <a:endParaRPr/>
          </a:p>
          <a:p>
            <a:pPr indent="-1841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The redesign improved created feedback and savings visibility, transforming a static dashboard into one that motivates sustainable habits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—-----------------------------------------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Presentation Feedback: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Will be exciting to see what you can do with it visually in the service portion of the dashboard as we move forward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you. This project </a:t>
            </a:r>
            <a:r>
              <a:rPr lang="en"/>
              <a:t>helped me how design</a:t>
            </a:r>
            <a:r>
              <a:rPr lang="en"/>
              <a:t> can transform</a:t>
            </a:r>
            <a:r>
              <a:rPr lang="en"/>
              <a:t> data </a:t>
            </a:r>
            <a:r>
              <a:rPr lang="en"/>
              <a:t>into motivation — helping people understand their impact, save money, and feel good about the choices they make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9d00c055b3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9d00c055b3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9d0aebdf1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9d0aebdf1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“User research with smart appliance owners revealed a gap — people wanted to save but didn’t know what actions mattered. The goal became clear: provide clarity, feedback, and motivation through a goal-oriented experience.”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9d0aebdf1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9d0aebdf1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“User research with smart appliance owners revealed a gap — people wanted to save but didn’t know what actions mattered. The goal became clear: provide clarity, feedback, and motivation through a goal-oriented experience.”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9d0aebdf1e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9d0aebdf1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“User research with smart appliance owners revealed a gap — people wanted to save but didn’t know what actions mattered. The goal became clear: provide clarity, feedback, and motivation through a goal-oriented experience.”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9d0aebdf1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9d0aebdf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“User research with smart appliance owners revealed a gap — people wanted to save but didn’t know what actions mattered. The goal became clear: provide clarity, feedback, and motivation through a goal-oriented experience.”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9d00c055b3_1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9d00c055b3_1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“User research with smart appliance owners revealed a gap — people wanted to save but didn’t know what actions mattered. The goal became clear: provide clarity, feedback, and motivation through a goal-oriented experience.”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image, annotations, and captions">
  <p:cSld name="TITLE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85902" y="258750"/>
            <a:ext cx="431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3"/>
          <p:cNvSpPr/>
          <p:nvPr>
            <p:ph idx="2" type="pic"/>
          </p:nvPr>
        </p:nvSpPr>
        <p:spPr>
          <a:xfrm>
            <a:off x="0" y="0"/>
            <a:ext cx="9144000" cy="236490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13"/>
          <p:cNvSpPr txBox="1"/>
          <p:nvPr>
            <p:ph idx="1" type="subTitle"/>
          </p:nvPr>
        </p:nvSpPr>
        <p:spPr>
          <a:xfrm>
            <a:off x="139600" y="2515437"/>
            <a:ext cx="9558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50"/>
              <a:buNone/>
              <a:defRPr b="1" sz="7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54" name="Google Shape;54;p13"/>
          <p:cNvSpPr txBox="1"/>
          <p:nvPr>
            <p:ph idx="3" type="subTitle"/>
          </p:nvPr>
        </p:nvSpPr>
        <p:spPr>
          <a:xfrm>
            <a:off x="1457784" y="2515437"/>
            <a:ext cx="9558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50"/>
              <a:buNone/>
              <a:defRPr b="1" sz="7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55" name="Google Shape;55;p13"/>
          <p:cNvSpPr txBox="1"/>
          <p:nvPr>
            <p:ph idx="4" type="subTitle"/>
          </p:nvPr>
        </p:nvSpPr>
        <p:spPr>
          <a:xfrm>
            <a:off x="2775967" y="2515437"/>
            <a:ext cx="9558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50"/>
              <a:buNone/>
              <a:defRPr b="1" sz="7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56" name="Google Shape;56;p13"/>
          <p:cNvSpPr txBox="1"/>
          <p:nvPr>
            <p:ph idx="5" type="subTitle"/>
          </p:nvPr>
        </p:nvSpPr>
        <p:spPr>
          <a:xfrm>
            <a:off x="4094151" y="2515437"/>
            <a:ext cx="9558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50"/>
              <a:buNone/>
              <a:defRPr b="1" sz="7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57" name="Google Shape;57;p13"/>
          <p:cNvSpPr txBox="1"/>
          <p:nvPr>
            <p:ph idx="6" type="subTitle"/>
          </p:nvPr>
        </p:nvSpPr>
        <p:spPr>
          <a:xfrm>
            <a:off x="5412334" y="2515437"/>
            <a:ext cx="9558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50"/>
              <a:buNone/>
              <a:defRPr b="1" sz="7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58" name="Google Shape;58;p13"/>
          <p:cNvSpPr txBox="1"/>
          <p:nvPr>
            <p:ph idx="7" type="subTitle"/>
          </p:nvPr>
        </p:nvSpPr>
        <p:spPr>
          <a:xfrm>
            <a:off x="6730518" y="2515437"/>
            <a:ext cx="9558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50"/>
              <a:buNone/>
              <a:defRPr b="1" sz="7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59" name="Google Shape;59;p13"/>
          <p:cNvSpPr txBox="1"/>
          <p:nvPr>
            <p:ph idx="8" type="subTitle"/>
          </p:nvPr>
        </p:nvSpPr>
        <p:spPr>
          <a:xfrm>
            <a:off x="8048701" y="2515437"/>
            <a:ext cx="9558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50"/>
              <a:buNone/>
              <a:defRPr b="1" sz="7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60" name="Google Shape;60;p13"/>
          <p:cNvSpPr txBox="1"/>
          <p:nvPr>
            <p:ph type="title"/>
          </p:nvPr>
        </p:nvSpPr>
        <p:spPr>
          <a:xfrm>
            <a:off x="19800" y="4187725"/>
            <a:ext cx="9104400" cy="82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1pPr>
            <a:lvl2pPr lvl="1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2pPr>
            <a:lvl3pPr lvl="2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3pPr>
            <a:lvl4pPr lvl="3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4pPr>
            <a:lvl5pPr lvl="4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5pPr>
            <a:lvl6pPr lvl="5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6pPr>
            <a:lvl7pPr lvl="6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7pPr>
            <a:lvl8pPr lvl="7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8pPr>
            <a:lvl9pPr lvl="8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9pPr>
          </a:lstStyle>
          <a:p/>
        </p:txBody>
      </p:sp>
      <p:sp>
        <p:nvSpPr>
          <p:cNvPr id="61" name="Google Shape;61;p13"/>
          <p:cNvSpPr txBox="1"/>
          <p:nvPr>
            <p:ph idx="9" type="subTitle"/>
          </p:nvPr>
        </p:nvSpPr>
        <p:spPr>
          <a:xfrm>
            <a:off x="4936920" y="2933413"/>
            <a:ext cx="1863300" cy="3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2" name="Google Shape;62;p13"/>
          <p:cNvSpPr txBox="1"/>
          <p:nvPr>
            <p:ph idx="13" type="body"/>
          </p:nvPr>
        </p:nvSpPr>
        <p:spPr>
          <a:xfrm>
            <a:off x="4936939" y="3312062"/>
            <a:ext cx="1863300" cy="6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63" name="Google Shape;63;p13"/>
          <p:cNvSpPr txBox="1"/>
          <p:nvPr>
            <p:ph idx="14" type="subTitle"/>
          </p:nvPr>
        </p:nvSpPr>
        <p:spPr>
          <a:xfrm>
            <a:off x="6984180" y="2933413"/>
            <a:ext cx="1863300" cy="3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4" name="Google Shape;64;p13"/>
          <p:cNvSpPr txBox="1"/>
          <p:nvPr>
            <p:ph idx="15" type="body"/>
          </p:nvPr>
        </p:nvSpPr>
        <p:spPr>
          <a:xfrm>
            <a:off x="6984199" y="3312062"/>
            <a:ext cx="1863300" cy="6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1F1F1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5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gif"/><Relationship Id="rId4" Type="http://schemas.openxmlformats.org/officeDocument/2006/relationships/image" Target="../media/image5.gif"/><Relationship Id="rId5" Type="http://schemas.openxmlformats.org/officeDocument/2006/relationships/image" Target="../media/image16.png"/><Relationship Id="rId6" Type="http://schemas.openxmlformats.org/officeDocument/2006/relationships/image" Target="../media/image9.png"/><Relationship Id="rId7" Type="http://schemas.openxmlformats.org/officeDocument/2006/relationships/image" Target="../media/image22.png"/><Relationship Id="rId8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21.gif"/><Relationship Id="rId5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figma.com/proto/DHhJRb4ybCH1y7i7Fjk0uj/-Christina-Lee--Final-Prototype--Smart-Energy-Dashboard?page-id=0%3A1&amp;node-id=1-587&amp;viewport=60%2C383%2C0.28&amp;t=RwuI6l0aalfBFVCt-1&amp;scaling=min-zoom&amp;content-scaling=fixed" TargetMode="External"/><Relationship Id="rId4" Type="http://schemas.openxmlformats.org/officeDocument/2006/relationships/hyperlink" Target="https://www.figma.com/board/0BAdydSMC0zx7JzAW7SQWI/Task-Analysis---Nest-Thermostat?node-id=61-327&amp;t=mXzHWziYrCDZn6xr-1" TargetMode="External"/><Relationship Id="rId5" Type="http://schemas.openxmlformats.org/officeDocument/2006/relationships/hyperlink" Target="https://docs.google.com/spreadsheets/d/1HZYj8MKRO7Fnri5M_IxnGheaYYdZPmg2YMuO5dzUw1M/edit?gid=1871318380#gid=1871318380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4512725" y="457200"/>
            <a:ext cx="3410400" cy="5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3F3F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THERMOSTAT</a:t>
            </a:r>
            <a:endParaRPr sz="16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0" name="Google Shape;70;p14"/>
          <p:cNvSpPr txBox="1"/>
          <p:nvPr>
            <p:ph idx="9" type="subTitle"/>
          </p:nvPr>
        </p:nvSpPr>
        <p:spPr>
          <a:xfrm>
            <a:off x="4512725" y="1613425"/>
            <a:ext cx="2451900" cy="263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Energy dashboards.  They measure what you use, but don’t help you make </a:t>
            </a:r>
            <a:r>
              <a:rPr lang="en" sz="1200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smarter</a:t>
            </a:r>
            <a:r>
              <a:rPr lang="en" sz="1200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 choices about costs &amp; savings.</a:t>
            </a:r>
            <a:endParaRPr sz="120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It’s time for the dashboard to work as hard as the thermostat.</a:t>
            </a:r>
            <a:endParaRPr>
              <a:solidFill>
                <a:srgbClr val="F3F3F3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pic>
        <p:nvPicPr>
          <p:cNvPr id="71" name="Google Shape;71;p14" title="OG-Dashboard_HD.gif"/>
          <p:cNvPicPr preferRelativeResize="0"/>
          <p:nvPr/>
        </p:nvPicPr>
        <p:blipFill rotWithShape="1">
          <a:blip r:embed="rId3">
            <a:alphaModFix/>
          </a:blip>
          <a:srcRect b="0" l="634" r="158" t="129"/>
          <a:stretch/>
        </p:blipFill>
        <p:spPr>
          <a:xfrm>
            <a:off x="1885825" y="60700"/>
            <a:ext cx="2451900" cy="5349000"/>
          </a:xfrm>
          <a:prstGeom prst="roundRect">
            <a:avLst>
              <a:gd fmla="val 14724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2" name="Google Shape;72;p14"/>
          <p:cNvSpPr txBox="1"/>
          <p:nvPr/>
        </p:nvSpPr>
        <p:spPr>
          <a:xfrm>
            <a:off x="4512725" y="897275"/>
            <a:ext cx="277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999999"/>
                </a:solidFill>
                <a:latin typeface="Space Mono"/>
                <a:ea typeface="Space Mono"/>
                <a:cs typeface="Space Mono"/>
                <a:sym typeface="Space Mono"/>
              </a:rPr>
              <a:t>DASHBOARD REDESIGN</a:t>
            </a:r>
            <a:endParaRPr sz="16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3" name="Google Shape;73;p14"/>
          <p:cNvSpPr txBox="1"/>
          <p:nvPr>
            <p:ph type="title"/>
          </p:nvPr>
        </p:nvSpPr>
        <p:spPr>
          <a:xfrm>
            <a:off x="170725" y="457200"/>
            <a:ext cx="1616400" cy="5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3F3F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NEST </a:t>
            </a:r>
            <a:endParaRPr sz="16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651575" y="457200"/>
            <a:ext cx="8032800" cy="5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3F3F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AISHA: A DAY IN THE LIFE</a:t>
            </a:r>
            <a:endParaRPr sz="16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651575" y="897275"/>
            <a:ext cx="4333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999999"/>
                </a:solidFill>
                <a:latin typeface="Space Mono"/>
                <a:ea typeface="Space Mono"/>
                <a:cs typeface="Space Mono"/>
                <a:sym typeface="Space Mono"/>
              </a:rPr>
              <a:t>THE CURRENT </a:t>
            </a:r>
            <a:r>
              <a:rPr lang="en" sz="1600">
                <a:solidFill>
                  <a:srgbClr val="999999"/>
                </a:solidFill>
                <a:latin typeface="Space Mono"/>
                <a:ea typeface="Space Mono"/>
                <a:cs typeface="Space Mono"/>
                <a:sym typeface="Space Mono"/>
              </a:rPr>
              <a:t>EXPERIENCE</a:t>
            </a:r>
            <a:endParaRPr sz="16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pSp>
        <p:nvGrpSpPr>
          <p:cNvPr id="80" name="Google Shape;80;p15"/>
          <p:cNvGrpSpPr/>
          <p:nvPr/>
        </p:nvGrpSpPr>
        <p:grpSpPr>
          <a:xfrm>
            <a:off x="689875" y="2153111"/>
            <a:ext cx="7740397" cy="1852798"/>
            <a:chOff x="0" y="1641613"/>
            <a:chExt cx="9144001" cy="2188775"/>
          </a:xfrm>
        </p:grpSpPr>
        <p:sp>
          <p:nvSpPr>
            <p:cNvPr id="81" name="Google Shape;81;p15"/>
            <p:cNvSpPr/>
            <p:nvPr/>
          </p:nvSpPr>
          <p:spPr>
            <a:xfrm>
              <a:off x="0" y="2866188"/>
              <a:ext cx="9144000" cy="964200"/>
            </a:xfrm>
            <a:prstGeom prst="rect">
              <a:avLst/>
            </a:prstGeom>
            <a:solidFill>
              <a:srgbClr val="FEFDFB"/>
            </a:solidFill>
            <a:ln cap="flat" cmpd="sng" w="80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7400" lIns="77400" spcFirstLastPara="1" rIns="77400" wrap="square" tIns="77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5"/>
            </a:p>
          </p:txBody>
        </p:sp>
        <p:pic>
          <p:nvPicPr>
            <p:cNvPr id="82" name="Google Shape;82;p15"/>
            <p:cNvPicPr preferRelativeResize="0"/>
            <p:nvPr/>
          </p:nvPicPr>
          <p:blipFill rotWithShape="1">
            <a:blip r:embed="rId3">
              <a:alphaModFix/>
            </a:blip>
            <a:srcRect b="59940" l="4704" r="67716" t="5992"/>
            <a:stretch/>
          </p:blipFill>
          <p:spPr>
            <a:xfrm>
              <a:off x="0" y="1641617"/>
              <a:ext cx="1484542" cy="12244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15"/>
            <p:cNvPicPr preferRelativeResize="0"/>
            <p:nvPr/>
          </p:nvPicPr>
          <p:blipFill rotWithShape="1">
            <a:blip r:embed="rId3">
              <a:alphaModFix/>
            </a:blip>
            <a:srcRect b="12481" l="4865" r="67770" t="55149"/>
            <a:stretch/>
          </p:blipFill>
          <p:spPr>
            <a:xfrm>
              <a:off x="4477319" y="1641613"/>
              <a:ext cx="1550301" cy="12244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" name="Google Shape;84;p15"/>
            <p:cNvPicPr preferRelativeResize="0"/>
            <p:nvPr/>
          </p:nvPicPr>
          <p:blipFill rotWithShape="1">
            <a:blip r:embed="rId3">
              <a:alphaModFix/>
            </a:blip>
            <a:srcRect b="59940" l="36042" r="36378" t="5992"/>
            <a:stretch/>
          </p:blipFill>
          <p:spPr>
            <a:xfrm>
              <a:off x="1492444" y="1641633"/>
              <a:ext cx="1484542" cy="12244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" name="Google Shape;85;p15"/>
            <p:cNvPicPr preferRelativeResize="0"/>
            <p:nvPr/>
          </p:nvPicPr>
          <p:blipFill rotWithShape="1">
            <a:blip r:embed="rId3">
              <a:alphaModFix/>
            </a:blip>
            <a:srcRect b="59940" l="67311" r="5110" t="5992"/>
            <a:stretch/>
          </p:blipFill>
          <p:spPr>
            <a:xfrm>
              <a:off x="2984888" y="1641617"/>
              <a:ext cx="1484542" cy="12244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" name="Google Shape;86;p15"/>
            <p:cNvPicPr preferRelativeResize="0"/>
            <p:nvPr/>
          </p:nvPicPr>
          <p:blipFill rotWithShape="1">
            <a:blip r:embed="rId3">
              <a:alphaModFix/>
            </a:blip>
            <a:srcRect b="12481" l="35984" r="36651" t="55149"/>
            <a:stretch/>
          </p:blipFill>
          <p:spPr>
            <a:xfrm>
              <a:off x="6035510" y="1641628"/>
              <a:ext cx="1550301" cy="12244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p15"/>
            <p:cNvPicPr preferRelativeResize="0"/>
            <p:nvPr/>
          </p:nvPicPr>
          <p:blipFill rotWithShape="1">
            <a:blip r:embed="rId3">
              <a:alphaModFix/>
            </a:blip>
            <a:srcRect b="12481" l="67425" r="5210" t="55149"/>
            <a:stretch/>
          </p:blipFill>
          <p:spPr>
            <a:xfrm>
              <a:off x="7593700" y="1641613"/>
              <a:ext cx="1550301" cy="12244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" name="Google Shape;88;p15"/>
            <p:cNvSpPr txBox="1"/>
            <p:nvPr/>
          </p:nvSpPr>
          <p:spPr>
            <a:xfrm>
              <a:off x="0" y="2866186"/>
              <a:ext cx="1410900" cy="74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3825" lIns="63825" spcFirstLastPara="1" rIns="63825" wrap="square" tIns="638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15">
                  <a:solidFill>
                    <a:srgbClr val="1F1F1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TRIGGER</a:t>
              </a:r>
              <a:endParaRPr sz="1015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  <a:p>
              <a:pPr indent="0" lvl="0" marL="0" rtl="0" algn="l">
                <a:spcBef>
                  <a:spcPts val="838"/>
                </a:spcBef>
                <a:spcAft>
                  <a:spcPts val="838"/>
                </a:spcAft>
                <a:buNone/>
              </a:pPr>
              <a:r>
                <a:rPr lang="en" sz="761">
                  <a:solidFill>
                    <a:srgbClr val="1F1F1F"/>
                  </a:solidFill>
                  <a:latin typeface="Poppins"/>
                  <a:ea typeface="Poppins"/>
                  <a:cs typeface="Poppins"/>
                  <a:sym typeface="Poppins"/>
                </a:rPr>
                <a:t>“Gotta see if I can save up for my trip.”</a:t>
              </a:r>
              <a:endParaRPr sz="1015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9" name="Google Shape;89;p15"/>
            <p:cNvSpPr txBox="1"/>
            <p:nvPr/>
          </p:nvSpPr>
          <p:spPr>
            <a:xfrm>
              <a:off x="1507476" y="2866113"/>
              <a:ext cx="1410900" cy="74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3825" lIns="63825" spcFirstLastPara="1" rIns="63825" wrap="square" tIns="638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15">
                  <a:solidFill>
                    <a:srgbClr val="1F1F1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CHECK-IN</a:t>
              </a:r>
              <a:endParaRPr sz="1015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  <a:p>
              <a:pPr indent="0" lvl="0" marL="0" rtl="0" algn="l">
                <a:spcBef>
                  <a:spcPts val="838"/>
                </a:spcBef>
                <a:spcAft>
                  <a:spcPts val="838"/>
                </a:spcAft>
                <a:buNone/>
              </a:pPr>
              <a:r>
                <a:rPr lang="en" sz="761">
                  <a:solidFill>
                    <a:srgbClr val="1F1F1F"/>
                  </a:solidFill>
                  <a:latin typeface="Poppins"/>
                  <a:ea typeface="Poppins"/>
                  <a:cs typeface="Poppins"/>
                  <a:sym typeface="Poppins"/>
                </a:rPr>
                <a:t>“Let’s see if I’m using too much AC.”</a:t>
              </a:r>
              <a:endParaRPr sz="1015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0" name="Google Shape;90;p15"/>
            <p:cNvSpPr txBox="1"/>
            <p:nvPr/>
          </p:nvSpPr>
          <p:spPr>
            <a:xfrm>
              <a:off x="3014951" y="2866113"/>
              <a:ext cx="1410900" cy="87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3825" lIns="63825" spcFirstLastPara="1" rIns="63825" wrap="square" tIns="638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15">
                  <a:solidFill>
                    <a:srgbClr val="1F1F1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UNDERWHELM</a:t>
              </a:r>
              <a:endParaRPr sz="1015">
                <a:solidFill>
                  <a:srgbClr val="1F1F1F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  <a:p>
              <a:pPr indent="0" lvl="0" marL="0" rtl="0" algn="l">
                <a:spcBef>
                  <a:spcPts val="838"/>
                </a:spcBef>
                <a:spcAft>
                  <a:spcPts val="838"/>
                </a:spcAft>
                <a:buNone/>
              </a:pPr>
              <a:r>
                <a:rPr lang="en" sz="761">
                  <a:solidFill>
                    <a:srgbClr val="1F1F1F"/>
                  </a:solidFill>
                  <a:latin typeface="Poppins"/>
                  <a:ea typeface="Poppins"/>
                  <a:cs typeface="Poppins"/>
                  <a:sym typeface="Poppins"/>
                </a:rPr>
                <a:t>“Ok, but… now what? Am I doing well or can I do better?”</a:t>
              </a:r>
              <a:endParaRPr sz="1015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1" name="Google Shape;91;p15"/>
            <p:cNvSpPr txBox="1"/>
            <p:nvPr/>
          </p:nvSpPr>
          <p:spPr>
            <a:xfrm>
              <a:off x="4522428" y="2866177"/>
              <a:ext cx="1473300" cy="74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3825" lIns="63825" spcFirstLastPara="1" rIns="63825" wrap="square" tIns="638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15">
                  <a:solidFill>
                    <a:srgbClr val="1F1F1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TRIAL/ERROR</a:t>
              </a:r>
              <a:endParaRPr sz="1015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  <a:p>
              <a:pPr indent="0" lvl="0" marL="0" rtl="0" algn="l">
                <a:spcBef>
                  <a:spcPts val="838"/>
                </a:spcBef>
                <a:spcAft>
                  <a:spcPts val="838"/>
                </a:spcAft>
                <a:buNone/>
              </a:pPr>
              <a:r>
                <a:rPr lang="en" sz="761">
                  <a:solidFill>
                    <a:srgbClr val="1F1F1F"/>
                  </a:solidFill>
                  <a:latin typeface="Poppins"/>
                  <a:ea typeface="Poppins"/>
                  <a:cs typeface="Poppins"/>
                  <a:sym typeface="Poppins"/>
                </a:rPr>
                <a:t>“I’ll change it to 73 and hope it helps.”</a:t>
              </a:r>
              <a:endParaRPr sz="1015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2" name="Google Shape;92;p15"/>
            <p:cNvSpPr txBox="1"/>
            <p:nvPr/>
          </p:nvSpPr>
          <p:spPr>
            <a:xfrm>
              <a:off x="6092425" y="2866113"/>
              <a:ext cx="1473300" cy="74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3825" lIns="63825" spcFirstLastPara="1" rIns="63825" wrap="square" tIns="638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15">
                  <a:solidFill>
                    <a:srgbClr val="1F1F1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FORGETFUL XP</a:t>
              </a:r>
              <a:endParaRPr sz="1015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  <a:p>
              <a:pPr indent="0" lvl="0" marL="0" rtl="0" algn="l">
                <a:spcBef>
                  <a:spcPts val="838"/>
                </a:spcBef>
                <a:spcAft>
                  <a:spcPts val="838"/>
                </a:spcAft>
                <a:buNone/>
              </a:pPr>
              <a:r>
                <a:rPr lang="en" sz="761">
                  <a:solidFill>
                    <a:srgbClr val="1F1F1F"/>
                  </a:solidFill>
                  <a:latin typeface="Poppins"/>
                  <a:ea typeface="Poppins"/>
                  <a:cs typeface="Poppins"/>
                  <a:sym typeface="Poppins"/>
                </a:rPr>
                <a:t>“Maybe I can save money another way..”</a:t>
              </a:r>
              <a:endParaRPr sz="1015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3" name="Google Shape;93;p15"/>
            <p:cNvSpPr txBox="1"/>
            <p:nvPr/>
          </p:nvSpPr>
          <p:spPr>
            <a:xfrm>
              <a:off x="7670625" y="2866113"/>
              <a:ext cx="1473300" cy="74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3825" lIns="63825" spcFirstLastPara="1" rIns="63825" wrap="square" tIns="638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15">
                  <a:solidFill>
                    <a:srgbClr val="1F1F1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REFLECTION</a:t>
              </a:r>
              <a:endParaRPr sz="1015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  <a:p>
              <a:pPr indent="0" lvl="0" marL="0" rtl="0" algn="l">
                <a:spcBef>
                  <a:spcPts val="838"/>
                </a:spcBef>
                <a:spcAft>
                  <a:spcPts val="838"/>
                </a:spcAft>
                <a:buNone/>
              </a:pPr>
              <a:r>
                <a:rPr lang="en" sz="761">
                  <a:solidFill>
                    <a:srgbClr val="1F1F1F"/>
                  </a:solidFill>
                  <a:latin typeface="Poppins"/>
                  <a:ea typeface="Poppins"/>
                  <a:cs typeface="Poppins"/>
                  <a:sym typeface="Poppins"/>
                </a:rPr>
                <a:t>“I guess it didn’t make a difference.”</a:t>
              </a:r>
              <a:endParaRPr sz="1015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/>
          <p:nvPr>
            <p:ph type="title"/>
          </p:nvPr>
        </p:nvSpPr>
        <p:spPr>
          <a:xfrm>
            <a:off x="651575" y="457200"/>
            <a:ext cx="8032800" cy="5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3F3F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IDENTIFYING KEY TOUCHPOINTS</a:t>
            </a:r>
            <a:endParaRPr sz="16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651575" y="897275"/>
            <a:ext cx="6408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999999"/>
                </a:solidFill>
                <a:latin typeface="Space Mono"/>
                <a:ea typeface="Space Mono"/>
                <a:cs typeface="Space Mono"/>
                <a:sym typeface="Space Mono"/>
              </a:rPr>
              <a:t>EMOTIONAL TIMELINE</a:t>
            </a:r>
            <a:endParaRPr sz="16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00" name="Google Shape;100;p16"/>
          <p:cNvSpPr txBox="1"/>
          <p:nvPr>
            <p:ph idx="9" type="subTitle"/>
          </p:nvPr>
        </p:nvSpPr>
        <p:spPr>
          <a:xfrm>
            <a:off x="397399" y="4115000"/>
            <a:ext cx="1678500" cy="715500"/>
          </a:xfrm>
          <a:prstGeom prst="rect">
            <a:avLst/>
          </a:prstGeom>
        </p:spPr>
        <p:txBody>
          <a:bodyPr anchorCtr="0" anchor="t" bIns="85950" lIns="85950" spcFirstLastPara="1" rIns="85950" wrap="square" tIns="85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128"/>
              </a:spcAft>
              <a:buNone/>
            </a:pPr>
            <a:r>
              <a:rPr lang="en" sz="1127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Aisha is motivated, but her </a:t>
            </a:r>
            <a:r>
              <a:rPr lang="en" sz="1127">
                <a:solidFill>
                  <a:srgbClr val="F3F3F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enthusiasm dwindles mid-goal.</a:t>
            </a:r>
            <a:endParaRPr sz="1127">
              <a:solidFill>
                <a:srgbClr val="F3F3F3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01" name="Google Shape;101;p16"/>
          <p:cNvSpPr txBox="1"/>
          <p:nvPr>
            <p:ph idx="9" type="subTitle"/>
          </p:nvPr>
        </p:nvSpPr>
        <p:spPr>
          <a:xfrm>
            <a:off x="3597800" y="4115000"/>
            <a:ext cx="1678500" cy="715500"/>
          </a:xfrm>
          <a:prstGeom prst="rect">
            <a:avLst/>
          </a:prstGeom>
        </p:spPr>
        <p:txBody>
          <a:bodyPr anchorCtr="0" anchor="t" bIns="85950" lIns="85950" spcFirstLastPara="1" rIns="85950" wrap="square" tIns="85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128"/>
              </a:spcAft>
              <a:buNone/>
            </a:pPr>
            <a:r>
              <a:rPr lang="en" sz="1127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She n</a:t>
            </a:r>
            <a:r>
              <a:rPr lang="en" sz="1127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eeds a gentle refresh and</a:t>
            </a:r>
            <a:r>
              <a:rPr lang="en" sz="1127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 seasonal motivators.</a:t>
            </a:r>
            <a:endParaRPr sz="1127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02" name="Google Shape;102;p16"/>
          <p:cNvSpPr txBox="1"/>
          <p:nvPr>
            <p:ph idx="9" type="subTitle"/>
          </p:nvPr>
        </p:nvSpPr>
        <p:spPr>
          <a:xfrm>
            <a:off x="7179275" y="4115000"/>
            <a:ext cx="1626900" cy="715500"/>
          </a:xfrm>
          <a:prstGeom prst="rect">
            <a:avLst/>
          </a:prstGeom>
        </p:spPr>
        <p:txBody>
          <a:bodyPr anchorCtr="0" anchor="t" bIns="85950" lIns="85950" spcFirstLastPara="1" rIns="85950" wrap="square" tIns="85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27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As well as clear</a:t>
            </a:r>
            <a:r>
              <a:rPr lang="en" sz="1127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 and simplified guidance throughout the xp.</a:t>
            </a:r>
            <a:endParaRPr sz="1127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128"/>
              </a:spcBef>
              <a:spcAft>
                <a:spcPts val="1128"/>
              </a:spcAft>
              <a:buNone/>
            </a:pPr>
            <a:r>
              <a:t/>
            </a:r>
            <a:endParaRPr sz="1127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cxnSp>
        <p:nvCxnSpPr>
          <p:cNvPr id="103" name="Google Shape;103;p16"/>
          <p:cNvCxnSpPr/>
          <p:nvPr/>
        </p:nvCxnSpPr>
        <p:spPr>
          <a:xfrm>
            <a:off x="4026850" y="3624225"/>
            <a:ext cx="0" cy="497400"/>
          </a:xfrm>
          <a:prstGeom prst="straightConnector1">
            <a:avLst/>
          </a:prstGeom>
          <a:noFill/>
          <a:ln cap="flat" cmpd="sng" w="9525">
            <a:solidFill>
              <a:srgbClr val="EEAC0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04" name="Google Shape;104;p16"/>
          <p:cNvCxnSpPr>
            <a:stCxn id="105" idx="1"/>
            <a:endCxn id="101" idx="3"/>
          </p:cNvCxnSpPr>
          <p:nvPr/>
        </p:nvCxnSpPr>
        <p:spPr>
          <a:xfrm flipH="1">
            <a:off x="5276375" y="3850800"/>
            <a:ext cx="2509200" cy="6219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06" name="Google Shape;106;p16"/>
          <p:cNvCxnSpPr>
            <a:stCxn id="107" idx="3"/>
          </p:cNvCxnSpPr>
          <p:nvPr/>
        </p:nvCxnSpPr>
        <p:spPr>
          <a:xfrm>
            <a:off x="803875" y="3161382"/>
            <a:ext cx="842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08" name="Google Shape;108;p16"/>
          <p:cNvSpPr/>
          <p:nvPr/>
        </p:nvSpPr>
        <p:spPr>
          <a:xfrm>
            <a:off x="765050" y="-1341425"/>
            <a:ext cx="943200" cy="938400"/>
          </a:xfrm>
          <a:prstGeom prst="roundRect">
            <a:avLst>
              <a:gd fmla="val 6188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Trigger</a:t>
            </a:r>
            <a:endParaRPr sz="80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Opens thermostat app</a:t>
            </a:r>
            <a:endParaRPr sz="80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2160155" y="-1341425"/>
            <a:ext cx="943200" cy="938400"/>
          </a:xfrm>
          <a:prstGeom prst="roundRect">
            <a:avLst>
              <a:gd fmla="val 6188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Status Check</a:t>
            </a:r>
            <a:endParaRPr sz="80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Scans dashboard for savings</a:t>
            </a:r>
            <a:endParaRPr sz="80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3555260" y="-1341425"/>
            <a:ext cx="943200" cy="938400"/>
          </a:xfrm>
          <a:prstGeom prst="roundRect">
            <a:avLst>
              <a:gd fmla="val 6188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Finding Ways to Save</a:t>
            </a:r>
            <a:endParaRPr sz="80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Navigates to help and support tips</a:t>
            </a:r>
            <a:endParaRPr sz="80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4950365" y="-1341425"/>
            <a:ext cx="943200" cy="938400"/>
          </a:xfrm>
          <a:prstGeom prst="roundRect">
            <a:avLst>
              <a:gd fmla="val 6188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Taking Action</a:t>
            </a:r>
            <a:endParaRPr sz="80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Adjusts temperature until “Eco” leave appears</a:t>
            </a:r>
            <a:endParaRPr sz="80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6345470" y="-1341425"/>
            <a:ext cx="943200" cy="938400"/>
          </a:xfrm>
          <a:prstGeom prst="roundRect">
            <a:avLst>
              <a:gd fmla="val 6188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Reflection</a:t>
            </a:r>
            <a:endParaRPr sz="80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No feedback after adjusting temperature, underwhelming </a:t>
            </a:r>
            <a:endParaRPr sz="80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7740575" y="-1341425"/>
            <a:ext cx="943200" cy="938400"/>
          </a:xfrm>
          <a:prstGeom prst="roundRect">
            <a:avLst>
              <a:gd fmla="val 6188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Goal Monitoring</a:t>
            </a:r>
            <a:endParaRPr sz="80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Checks app or bill during rest and weekend schedule </a:t>
            </a:r>
            <a:endParaRPr sz="80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1591725" y="2531450"/>
            <a:ext cx="787129" cy="225521"/>
          </a:xfrm>
          <a:custGeom>
            <a:rect b="b" l="l" r="r" t="t"/>
            <a:pathLst>
              <a:path extrusionOk="0" h="6632" w="27799">
                <a:moveTo>
                  <a:pt x="0" y="0"/>
                </a:moveTo>
                <a:cubicBezTo>
                  <a:pt x="9397" y="1564"/>
                  <a:pt x="18761" y="3619"/>
                  <a:pt x="27799" y="6632"/>
                </a:cubicBezTo>
              </a:path>
            </a:pathLst>
          </a:cu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5" name="Google Shape;115;p16"/>
          <p:cNvSpPr/>
          <p:nvPr/>
        </p:nvSpPr>
        <p:spPr>
          <a:xfrm>
            <a:off x="4399850" y="3161376"/>
            <a:ext cx="668439" cy="371958"/>
          </a:xfrm>
          <a:custGeom>
            <a:rect b="b" l="l" r="r" t="t"/>
            <a:pathLst>
              <a:path extrusionOk="0" h="8890" w="35560">
                <a:moveTo>
                  <a:pt x="0" y="8890"/>
                </a:moveTo>
                <a:cubicBezTo>
                  <a:pt x="12218" y="8890"/>
                  <a:pt x="23967" y="3860"/>
                  <a:pt x="35560" y="0"/>
                </a:cubicBezTo>
              </a:path>
            </a:pathLst>
          </a:cu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6" name="Google Shape;116;p16"/>
          <p:cNvSpPr/>
          <p:nvPr/>
        </p:nvSpPr>
        <p:spPr>
          <a:xfrm>
            <a:off x="882950" y="2424680"/>
            <a:ext cx="707400" cy="204000"/>
          </a:xfrm>
          <a:prstGeom prst="roundRect">
            <a:avLst>
              <a:gd fmla="val 50000" name="adj"/>
            </a:avLst>
          </a:prstGeom>
          <a:solidFill>
            <a:srgbClr val="00B1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Motivated</a:t>
            </a:r>
            <a:endParaRPr sz="18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3673150" y="3399530"/>
            <a:ext cx="707400" cy="204000"/>
          </a:xfrm>
          <a:prstGeom prst="roundRect">
            <a:avLst>
              <a:gd fmla="val 50000" name="adj"/>
            </a:avLst>
          </a:prstGeom>
          <a:solidFill>
            <a:srgbClr val="EEAC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F1F1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Uncertain</a:t>
            </a:r>
            <a:endParaRPr sz="1800">
              <a:solidFill>
                <a:srgbClr val="1F1F1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2704325" y="2847900"/>
            <a:ext cx="968831" cy="685381"/>
          </a:xfrm>
          <a:custGeom>
            <a:rect b="b" l="l" r="r" t="t"/>
            <a:pathLst>
              <a:path extrusionOk="0" h="21667" w="32864">
                <a:moveTo>
                  <a:pt x="0" y="0"/>
                </a:moveTo>
                <a:cubicBezTo>
                  <a:pt x="11736" y="5868"/>
                  <a:pt x="21128" y="15799"/>
                  <a:pt x="32864" y="21667"/>
                </a:cubicBezTo>
              </a:path>
            </a:pathLst>
          </a:cu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19" name="Google Shape;119;p16"/>
          <p:cNvCxnSpPr>
            <a:stCxn id="116" idx="2"/>
          </p:cNvCxnSpPr>
          <p:nvPr/>
        </p:nvCxnSpPr>
        <p:spPr>
          <a:xfrm>
            <a:off x="1236650" y="2628680"/>
            <a:ext cx="0" cy="1470900"/>
          </a:xfrm>
          <a:prstGeom prst="straightConnector1">
            <a:avLst/>
          </a:prstGeom>
          <a:noFill/>
          <a:ln cap="flat" cmpd="sng" w="9525">
            <a:solidFill>
              <a:srgbClr val="1AC05B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07" name="Google Shape;107;p16"/>
          <p:cNvSpPr txBox="1"/>
          <p:nvPr/>
        </p:nvSpPr>
        <p:spPr>
          <a:xfrm>
            <a:off x="235675" y="2961282"/>
            <a:ext cx="56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128"/>
              </a:spcAft>
              <a:buNone/>
            </a:pPr>
            <a:r>
              <a:rPr lang="en" sz="700">
                <a:solidFill>
                  <a:srgbClr val="B7B7B7"/>
                </a:solidFill>
                <a:latin typeface="Poppins Light"/>
                <a:ea typeface="Poppins Light"/>
                <a:cs typeface="Poppins Light"/>
                <a:sym typeface="Poppins Light"/>
              </a:rPr>
              <a:t>Emotional </a:t>
            </a:r>
            <a:r>
              <a:rPr lang="en" sz="700">
                <a:solidFill>
                  <a:srgbClr val="B7B7B7"/>
                </a:solidFill>
                <a:latin typeface="Poppins Light"/>
                <a:ea typeface="Poppins Light"/>
                <a:cs typeface="Poppins Light"/>
                <a:sym typeface="Poppins Light"/>
              </a:rPr>
              <a:t>Baseline</a:t>
            </a:r>
            <a:endParaRPr sz="700">
              <a:solidFill>
                <a:srgbClr val="B7B7B7"/>
              </a:solidFill>
            </a:endParaRPr>
          </a:p>
        </p:txBody>
      </p:sp>
      <p:pic>
        <p:nvPicPr>
          <p:cNvPr id="120" name="Google Shape;120;p16"/>
          <p:cNvPicPr preferRelativeResize="0"/>
          <p:nvPr/>
        </p:nvPicPr>
        <p:blipFill rotWithShape="1">
          <a:blip r:embed="rId3">
            <a:alphaModFix/>
          </a:blip>
          <a:srcRect b="59940" l="4704" r="67716" t="5992"/>
          <a:stretch/>
        </p:blipFill>
        <p:spPr>
          <a:xfrm>
            <a:off x="682140" y="1414200"/>
            <a:ext cx="1137600" cy="938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121" name="Google Shape;121;p16"/>
          <p:cNvPicPr preferRelativeResize="0"/>
          <p:nvPr/>
        </p:nvPicPr>
        <p:blipFill rotWithShape="1">
          <a:blip r:embed="rId3">
            <a:alphaModFix/>
          </a:blip>
          <a:srcRect b="59940" l="36042" r="36378" t="5992"/>
          <a:stretch/>
        </p:blipFill>
        <p:spPr>
          <a:xfrm>
            <a:off x="2062942" y="1662097"/>
            <a:ext cx="1137600" cy="938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122" name="Google Shape;122;p16"/>
          <p:cNvPicPr preferRelativeResize="0"/>
          <p:nvPr/>
        </p:nvPicPr>
        <p:blipFill rotWithShape="1">
          <a:blip r:embed="rId3">
            <a:alphaModFix/>
          </a:blip>
          <a:srcRect b="59940" l="67311" r="5110" t="5992"/>
          <a:stretch/>
        </p:blipFill>
        <p:spPr>
          <a:xfrm>
            <a:off x="3458056" y="2384924"/>
            <a:ext cx="1137600" cy="938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123" name="Google Shape;123;p16"/>
          <p:cNvPicPr preferRelativeResize="0"/>
          <p:nvPr/>
        </p:nvPicPr>
        <p:blipFill rotWithShape="1">
          <a:blip r:embed="rId3">
            <a:alphaModFix/>
          </a:blip>
          <a:srcRect b="12481" l="4865" r="67770" t="55149"/>
          <a:stretch/>
        </p:blipFill>
        <p:spPr>
          <a:xfrm>
            <a:off x="4792695" y="2027842"/>
            <a:ext cx="1188000" cy="938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124" name="Google Shape;124;p16"/>
          <p:cNvPicPr preferRelativeResize="0"/>
          <p:nvPr/>
        </p:nvPicPr>
        <p:blipFill rotWithShape="1">
          <a:blip r:embed="rId3">
            <a:alphaModFix/>
          </a:blip>
          <a:srcRect b="12481" l="35984" r="36651" t="55149"/>
          <a:stretch/>
        </p:blipFill>
        <p:spPr>
          <a:xfrm>
            <a:off x="6218047" y="2384925"/>
            <a:ext cx="1188000" cy="938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25" name="Google Shape;125;p16"/>
          <p:cNvSpPr/>
          <p:nvPr/>
        </p:nvSpPr>
        <p:spPr>
          <a:xfrm>
            <a:off x="2278050" y="2676705"/>
            <a:ext cx="707400" cy="204000"/>
          </a:xfrm>
          <a:prstGeom prst="roundRect">
            <a:avLst>
              <a:gd fmla="val 50000" name="adj"/>
            </a:avLst>
          </a:prstGeom>
          <a:solidFill>
            <a:srgbClr val="BCC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Curious</a:t>
            </a:r>
            <a:endParaRPr sz="18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26" name="Google Shape;126;p16"/>
          <p:cNvPicPr preferRelativeResize="0"/>
          <p:nvPr/>
        </p:nvPicPr>
        <p:blipFill rotWithShape="1">
          <a:blip r:embed="rId3">
            <a:alphaModFix/>
          </a:blip>
          <a:srcRect b="12481" l="67425" r="5210" t="55149"/>
          <a:stretch/>
        </p:blipFill>
        <p:spPr>
          <a:xfrm>
            <a:off x="7618174" y="2725781"/>
            <a:ext cx="1188000" cy="938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27" name="Google Shape;127;p16"/>
          <p:cNvSpPr/>
          <p:nvPr/>
        </p:nvSpPr>
        <p:spPr>
          <a:xfrm>
            <a:off x="5778350" y="3147900"/>
            <a:ext cx="853182" cy="371956"/>
          </a:xfrm>
          <a:custGeom>
            <a:rect b="b" l="l" r="r" t="t"/>
            <a:pathLst>
              <a:path extrusionOk="0" h="10919" w="26484">
                <a:moveTo>
                  <a:pt x="0" y="0"/>
                </a:moveTo>
                <a:cubicBezTo>
                  <a:pt x="9491" y="1053"/>
                  <a:pt x="17222" y="8596"/>
                  <a:pt x="26484" y="10919"/>
                </a:cubicBezTo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8" name="Google Shape;128;p16"/>
          <p:cNvSpPr/>
          <p:nvPr/>
        </p:nvSpPr>
        <p:spPr>
          <a:xfrm>
            <a:off x="5068275" y="3040055"/>
            <a:ext cx="707400" cy="204000"/>
          </a:xfrm>
          <a:prstGeom prst="roundRect">
            <a:avLst>
              <a:gd fmla="val 50000" name="adj"/>
            </a:avLst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F1F1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Neutral</a:t>
            </a:r>
            <a:endParaRPr sz="1800">
              <a:solidFill>
                <a:srgbClr val="1F1F1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6906675" y="3581625"/>
            <a:ext cx="968848" cy="265320"/>
          </a:xfrm>
          <a:custGeom>
            <a:rect b="b" l="l" r="r" t="t"/>
            <a:pathLst>
              <a:path extrusionOk="0" h="7666" w="30201">
                <a:moveTo>
                  <a:pt x="0" y="0"/>
                </a:moveTo>
                <a:cubicBezTo>
                  <a:pt x="9988" y="2850"/>
                  <a:pt x="20016" y="5632"/>
                  <a:pt x="30201" y="7666"/>
                </a:cubicBezTo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5" name="Google Shape;105;p16"/>
          <p:cNvSpPr/>
          <p:nvPr/>
        </p:nvSpPr>
        <p:spPr>
          <a:xfrm>
            <a:off x="7785575" y="3748800"/>
            <a:ext cx="853200" cy="204000"/>
          </a:xfrm>
          <a:prstGeom prst="roundRect">
            <a:avLst>
              <a:gd fmla="val 50000" name="adj"/>
            </a:avLst>
          </a:prstGeom>
          <a:solidFill>
            <a:srgbClr val="98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F3F3F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Discouraged</a:t>
            </a:r>
            <a:endParaRPr sz="1800">
              <a:solidFill>
                <a:srgbClr val="F3F3F3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6460100" y="3399530"/>
            <a:ext cx="707400" cy="204000"/>
          </a:xfrm>
          <a:prstGeom prst="roundRect">
            <a:avLst>
              <a:gd fmla="val 50000" name="adj"/>
            </a:avLst>
          </a:prstGeom>
          <a:solidFill>
            <a:srgbClr val="AD8E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F1F1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Forgetful</a:t>
            </a:r>
            <a:endParaRPr sz="1800">
              <a:solidFill>
                <a:srgbClr val="1F1F1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7"/>
          <p:cNvPicPr preferRelativeResize="0"/>
          <p:nvPr/>
        </p:nvPicPr>
        <p:blipFill rotWithShape="1">
          <a:blip r:embed="rId3">
            <a:alphaModFix/>
          </a:blip>
          <a:srcRect b="3459" l="1222" r="948" t="2775"/>
          <a:stretch/>
        </p:blipFill>
        <p:spPr>
          <a:xfrm>
            <a:off x="2281997" y="3300900"/>
            <a:ext cx="2794399" cy="128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/>
          <p:cNvPicPr preferRelativeResize="0"/>
          <p:nvPr/>
        </p:nvPicPr>
        <p:blipFill rotWithShape="1">
          <a:blip r:embed="rId4">
            <a:alphaModFix/>
          </a:blip>
          <a:srcRect b="1856" l="851" r="1320" t="1943"/>
          <a:stretch/>
        </p:blipFill>
        <p:spPr>
          <a:xfrm>
            <a:off x="2281550" y="1367475"/>
            <a:ext cx="2794399" cy="193342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>
            <p:ph idx="9" type="subTitle"/>
          </p:nvPr>
        </p:nvSpPr>
        <p:spPr>
          <a:xfrm>
            <a:off x="6020900" y="1613425"/>
            <a:ext cx="2440500" cy="263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Issues</a:t>
            </a:r>
            <a:endParaRPr sz="120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90500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Poppins Light"/>
              <a:buChar char="●"/>
            </a:pPr>
            <a:r>
              <a:rPr lang="en" sz="1200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Fuse Data</a:t>
            </a:r>
            <a:endParaRPr sz="120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905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Poppins Light"/>
              <a:buChar char="●"/>
            </a:pPr>
            <a:r>
              <a:rPr lang="en" sz="1200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Reduce Uncertainty</a:t>
            </a:r>
            <a:endParaRPr sz="120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905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Poppins Light"/>
              <a:buChar char="●"/>
            </a:pPr>
            <a:r>
              <a:rPr lang="en" sz="1200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Automate Unwanted Workload</a:t>
            </a:r>
            <a:endParaRPr sz="120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Opportunities</a:t>
            </a:r>
            <a:endParaRPr sz="120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90500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Poppins Light"/>
              <a:buChar char="●"/>
            </a:pPr>
            <a:r>
              <a:rPr lang="en" sz="1200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Reduce Cognitive Load</a:t>
            </a:r>
            <a:endParaRPr sz="120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905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Poppins Light"/>
              <a:buChar char="●"/>
            </a:pPr>
            <a:r>
              <a:rPr lang="en" sz="1200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Aid Decision-Making</a:t>
            </a:r>
            <a:endParaRPr sz="120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905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Poppins Light"/>
              <a:buChar char="●"/>
            </a:pPr>
            <a:r>
              <a:rPr lang="en" sz="1200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Eliminate Mental Processing for core tasks</a:t>
            </a:r>
            <a:endParaRPr sz="120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38" name="Google Shape;138;p17"/>
          <p:cNvSpPr txBox="1"/>
          <p:nvPr>
            <p:ph type="title"/>
          </p:nvPr>
        </p:nvSpPr>
        <p:spPr>
          <a:xfrm>
            <a:off x="651575" y="457200"/>
            <a:ext cx="8032800" cy="5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3F3F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ANALYSIS + DESIGN OPPORTUNITIES</a:t>
            </a:r>
            <a:endParaRPr sz="16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651575" y="897275"/>
            <a:ext cx="4333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999999"/>
                </a:solidFill>
                <a:latin typeface="Space Mono"/>
                <a:ea typeface="Space Mono"/>
                <a:cs typeface="Space Mono"/>
                <a:sym typeface="Space Mono"/>
              </a:rPr>
              <a:t>HEURISTIC PRINCIPLES</a:t>
            </a:r>
            <a:endParaRPr sz="16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2273425" y="1367475"/>
            <a:ext cx="2808000" cy="963000"/>
          </a:xfrm>
          <a:prstGeom prst="roundRect">
            <a:avLst>
              <a:gd fmla="val 5932" name="adj"/>
            </a:avLst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2271197" y="4272425"/>
            <a:ext cx="2808000" cy="311400"/>
          </a:xfrm>
          <a:prstGeom prst="roundRect">
            <a:avLst>
              <a:gd fmla="val 5932" name="adj"/>
            </a:avLst>
          </a:prstGeom>
          <a:noFill/>
          <a:ln cap="flat" cmpd="sng" w="19050">
            <a:solidFill>
              <a:srgbClr val="1AC0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2" name="Google Shape;142;p17"/>
          <p:cNvCxnSpPr/>
          <p:nvPr/>
        </p:nvCxnSpPr>
        <p:spPr>
          <a:xfrm>
            <a:off x="5054632" y="1850774"/>
            <a:ext cx="1152300" cy="4698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143" name="Google Shape;143;p17"/>
          <p:cNvCxnSpPr/>
          <p:nvPr/>
        </p:nvCxnSpPr>
        <p:spPr>
          <a:xfrm flipH="1" rot="10800000">
            <a:off x="5044279" y="3513999"/>
            <a:ext cx="1160700" cy="942000"/>
          </a:xfrm>
          <a:prstGeom prst="straightConnector1">
            <a:avLst/>
          </a:prstGeom>
          <a:noFill/>
          <a:ln cap="flat" cmpd="sng" w="19050">
            <a:solidFill>
              <a:srgbClr val="1AC05B"/>
            </a:solidFill>
            <a:prstDash val="solid"/>
            <a:round/>
            <a:headEnd len="med" w="med" type="oval"/>
            <a:tailEnd len="med" w="med" type="none"/>
          </a:ln>
        </p:spPr>
      </p:cxnSp>
      <p:pic>
        <p:nvPicPr>
          <p:cNvPr id="144" name="Google Shape;144;p17" title="OG-Dashboard_HD.gif"/>
          <p:cNvPicPr preferRelativeResize="0"/>
          <p:nvPr/>
        </p:nvPicPr>
        <p:blipFill rotWithShape="1">
          <a:blip r:embed="rId5">
            <a:alphaModFix/>
          </a:blip>
          <a:srcRect b="0" l="634" r="158" t="129"/>
          <a:stretch/>
        </p:blipFill>
        <p:spPr>
          <a:xfrm>
            <a:off x="703250" y="1367475"/>
            <a:ext cx="1474200" cy="3216300"/>
          </a:xfrm>
          <a:prstGeom prst="roundRect">
            <a:avLst>
              <a:gd fmla="val 14724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8"/>
          <p:cNvPicPr preferRelativeResize="0"/>
          <p:nvPr/>
        </p:nvPicPr>
        <p:blipFill rotWithShape="1">
          <a:blip r:embed="rId3">
            <a:alphaModFix/>
          </a:blip>
          <a:srcRect b="6739" l="12781" r="12781" t="6747"/>
          <a:stretch/>
        </p:blipFill>
        <p:spPr>
          <a:xfrm>
            <a:off x="749139" y="1251870"/>
            <a:ext cx="1580350" cy="3536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8"/>
          <p:cNvPicPr preferRelativeResize="0"/>
          <p:nvPr/>
        </p:nvPicPr>
        <p:blipFill rotWithShape="1">
          <a:blip r:embed="rId4">
            <a:alphaModFix/>
          </a:blip>
          <a:srcRect b="7324" l="12547" r="12540" t="8677"/>
          <a:stretch/>
        </p:blipFill>
        <p:spPr>
          <a:xfrm>
            <a:off x="6873080" y="1277442"/>
            <a:ext cx="1521775" cy="271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/>
          <p:cNvPicPr preferRelativeResize="0"/>
          <p:nvPr/>
        </p:nvPicPr>
        <p:blipFill rotWithShape="1">
          <a:blip r:embed="rId5">
            <a:alphaModFix/>
          </a:blip>
          <a:srcRect b="28818" l="18633" r="18608" t="7830"/>
          <a:stretch/>
        </p:blipFill>
        <p:spPr>
          <a:xfrm>
            <a:off x="2955725" y="1371113"/>
            <a:ext cx="1360200" cy="3258600"/>
          </a:xfrm>
          <a:prstGeom prst="roundRect">
            <a:avLst>
              <a:gd fmla="val 8651" name="adj"/>
            </a:avLst>
          </a:prstGeom>
          <a:noFill/>
          <a:ln cap="flat" cmpd="sng" w="19050">
            <a:solidFill>
              <a:srgbClr val="75757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2" name="Google Shape;152;p18"/>
          <p:cNvPicPr preferRelativeResize="0"/>
          <p:nvPr/>
        </p:nvPicPr>
        <p:blipFill rotWithShape="1">
          <a:blip r:embed="rId6">
            <a:alphaModFix/>
          </a:blip>
          <a:srcRect b="6926" l="11919" r="11919" t="6926"/>
          <a:stretch/>
        </p:blipFill>
        <p:spPr>
          <a:xfrm>
            <a:off x="4868786" y="1225929"/>
            <a:ext cx="1561375" cy="2811774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>
            <p:ph type="title"/>
          </p:nvPr>
        </p:nvSpPr>
        <p:spPr>
          <a:xfrm>
            <a:off x="658600" y="457200"/>
            <a:ext cx="7643100" cy="5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3F3F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DESIGNING </a:t>
            </a:r>
            <a:r>
              <a:rPr lang="en" sz="3200">
                <a:solidFill>
                  <a:srgbClr val="F3F3F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NEW FEATURES</a:t>
            </a:r>
            <a:endParaRPr sz="16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cxnSp>
        <p:nvCxnSpPr>
          <p:cNvPr id="154" name="Google Shape;154;p18"/>
          <p:cNvCxnSpPr>
            <a:stCxn id="149" idx="3"/>
          </p:cNvCxnSpPr>
          <p:nvPr/>
        </p:nvCxnSpPr>
        <p:spPr>
          <a:xfrm>
            <a:off x="2329489" y="3020008"/>
            <a:ext cx="44700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" name="Google Shape;155;p18"/>
          <p:cNvCxnSpPr/>
          <p:nvPr/>
        </p:nvCxnSpPr>
        <p:spPr>
          <a:xfrm>
            <a:off x="4425850" y="3020001"/>
            <a:ext cx="40980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" name="Google Shape;156;p18"/>
          <p:cNvCxnSpPr/>
          <p:nvPr/>
        </p:nvCxnSpPr>
        <p:spPr>
          <a:xfrm>
            <a:off x="6463275" y="3020001"/>
            <a:ext cx="40980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9"/>
          <p:cNvSpPr txBox="1"/>
          <p:nvPr>
            <p:ph type="title"/>
          </p:nvPr>
        </p:nvSpPr>
        <p:spPr>
          <a:xfrm>
            <a:off x="651575" y="457200"/>
            <a:ext cx="8032800" cy="5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3F3F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USER TESTING + POLISH</a:t>
            </a:r>
            <a:endParaRPr sz="16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62" name="Google Shape;162;p19"/>
          <p:cNvSpPr txBox="1"/>
          <p:nvPr/>
        </p:nvSpPr>
        <p:spPr>
          <a:xfrm>
            <a:off x="651575" y="897275"/>
            <a:ext cx="339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999999"/>
                </a:solidFill>
                <a:latin typeface="Space Mono"/>
                <a:ea typeface="Space Mono"/>
                <a:cs typeface="Space Mono"/>
                <a:sym typeface="Space Mono"/>
              </a:rPr>
              <a:t>ORIGINAL</a:t>
            </a:r>
            <a:endParaRPr sz="16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63" name="Google Shape;163;p19" title="New-Dashboard_Savings_Achievements.gif"/>
          <p:cNvPicPr preferRelativeResize="0"/>
          <p:nvPr/>
        </p:nvPicPr>
        <p:blipFill rotWithShape="1">
          <a:blip r:embed="rId3">
            <a:alphaModFix/>
          </a:blip>
          <a:srcRect b="8155" l="10513" r="10434" t="7945"/>
          <a:stretch/>
        </p:blipFill>
        <p:spPr>
          <a:xfrm>
            <a:off x="2763090" y="1311950"/>
            <a:ext cx="1669200" cy="3657600"/>
          </a:xfrm>
          <a:prstGeom prst="roundRect">
            <a:avLst>
              <a:gd fmla="val 14407" name="adj"/>
            </a:avLst>
          </a:prstGeom>
          <a:noFill/>
          <a:ln>
            <a:noFill/>
          </a:ln>
        </p:spPr>
      </p:pic>
      <p:pic>
        <p:nvPicPr>
          <p:cNvPr id="164" name="Google Shape;164;p19" title="OG-Dashboard_HD.gif"/>
          <p:cNvPicPr preferRelativeResize="0"/>
          <p:nvPr/>
        </p:nvPicPr>
        <p:blipFill rotWithShape="1">
          <a:blip r:embed="rId4">
            <a:alphaModFix/>
          </a:blip>
          <a:srcRect b="0" l="634" r="158" t="129"/>
          <a:stretch/>
        </p:blipFill>
        <p:spPr>
          <a:xfrm>
            <a:off x="749155" y="1311949"/>
            <a:ext cx="1674000" cy="3657600"/>
          </a:xfrm>
          <a:prstGeom prst="roundRect">
            <a:avLst>
              <a:gd fmla="val 14724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5" name="Google Shape;165;p19"/>
          <p:cNvSpPr txBox="1"/>
          <p:nvPr/>
        </p:nvSpPr>
        <p:spPr>
          <a:xfrm>
            <a:off x="2706140" y="897275"/>
            <a:ext cx="277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999999"/>
                </a:solidFill>
                <a:latin typeface="Space Mono"/>
                <a:ea typeface="Space Mono"/>
                <a:cs typeface="Space Mono"/>
                <a:sym typeface="Space Mono"/>
              </a:rPr>
              <a:t>NEW</a:t>
            </a:r>
            <a:endParaRPr sz="16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66" name="Google Shape;166;p19"/>
          <p:cNvSpPr txBox="1"/>
          <p:nvPr>
            <p:ph idx="9" type="subTitle"/>
          </p:nvPr>
        </p:nvSpPr>
        <p:spPr>
          <a:xfrm>
            <a:off x="4823850" y="1255350"/>
            <a:ext cx="4157400" cy="357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Cost and Savings highlighted clearly</a:t>
            </a:r>
            <a:endParaRPr sz="110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Achievements &amp; Milestones</a:t>
            </a:r>
            <a:endParaRPr sz="110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Neighborhood Leaderboard</a:t>
            </a:r>
            <a:endParaRPr sz="110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167" name="Google Shape;167;p19"/>
          <p:cNvPicPr preferRelativeResize="0"/>
          <p:nvPr/>
        </p:nvPicPr>
        <p:blipFill rotWithShape="1">
          <a:blip r:embed="rId5">
            <a:alphaModFix/>
          </a:blip>
          <a:srcRect b="6646" l="2620" r="2762" t="8355"/>
          <a:stretch/>
        </p:blipFill>
        <p:spPr>
          <a:xfrm>
            <a:off x="4907125" y="1566484"/>
            <a:ext cx="2230200" cy="799200"/>
          </a:xfrm>
          <a:prstGeom prst="roundRect">
            <a:avLst>
              <a:gd fmla="val 13242" name="adj"/>
            </a:avLst>
          </a:prstGeom>
          <a:noFill/>
          <a:ln cap="flat" cmpd="sng" w="1905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8" name="Google Shape;168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07125" y="2842542"/>
            <a:ext cx="1927550" cy="85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9"/>
          <p:cNvPicPr preferRelativeResize="0"/>
          <p:nvPr/>
        </p:nvPicPr>
        <p:blipFill rotWithShape="1">
          <a:blip r:embed="rId7">
            <a:alphaModFix/>
          </a:blip>
          <a:srcRect b="0" l="0" r="0" t="7638"/>
          <a:stretch/>
        </p:blipFill>
        <p:spPr>
          <a:xfrm>
            <a:off x="4907125" y="4171475"/>
            <a:ext cx="2157600" cy="474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170" name="Google Shape;170;p19"/>
          <p:cNvPicPr preferRelativeResize="0"/>
          <p:nvPr/>
        </p:nvPicPr>
        <p:blipFill rotWithShape="1">
          <a:blip r:embed="rId8">
            <a:alphaModFix/>
          </a:blip>
          <a:srcRect b="3069" l="16754" r="16760" t="3069"/>
          <a:stretch/>
        </p:blipFill>
        <p:spPr>
          <a:xfrm>
            <a:off x="7309500" y="1566475"/>
            <a:ext cx="1245000" cy="1553400"/>
          </a:xfrm>
          <a:prstGeom prst="roundRect">
            <a:avLst>
              <a:gd fmla="val 10776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 txBox="1"/>
          <p:nvPr>
            <p:ph idx="9" type="subTitle"/>
          </p:nvPr>
        </p:nvSpPr>
        <p:spPr>
          <a:xfrm>
            <a:off x="749150" y="1449825"/>
            <a:ext cx="2237400" cy="36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50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Customization Adaptability</a:t>
            </a:r>
            <a:endParaRPr sz="95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74625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3F3F3"/>
              </a:buClr>
              <a:buSzPts val="950"/>
              <a:buFont typeface="Poppins Light"/>
              <a:buChar char="●"/>
            </a:pPr>
            <a:r>
              <a:rPr lang="en" sz="950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Dark mode</a:t>
            </a:r>
            <a:endParaRPr sz="95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74625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950"/>
              <a:buFont typeface="Poppins Light"/>
              <a:buChar char="●"/>
            </a:pPr>
            <a:r>
              <a:rPr lang="en" sz="950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Responsive layouts</a:t>
            </a:r>
            <a:endParaRPr sz="95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Usability Testing</a:t>
            </a:r>
            <a:endParaRPr sz="95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74625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3F3F3"/>
              </a:buClr>
              <a:buSzPts val="950"/>
              <a:buFont typeface="Poppins Light"/>
              <a:buChar char="●"/>
            </a:pPr>
            <a:r>
              <a:rPr lang="en" sz="950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100% Core task completion</a:t>
            </a:r>
            <a:endParaRPr sz="95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74625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950"/>
              <a:buFont typeface="Poppins Light"/>
              <a:buChar char="●"/>
            </a:pPr>
            <a:r>
              <a:rPr lang="en" sz="950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Clear snapshot of cost vs. savings</a:t>
            </a:r>
            <a:endParaRPr sz="95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Visual Appeal</a:t>
            </a:r>
            <a:endParaRPr sz="95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“It feels good </a:t>
            </a:r>
            <a:r>
              <a:rPr lang="en" sz="950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looking</a:t>
            </a:r>
            <a:r>
              <a:rPr lang="en" sz="950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 at it–the green makes me think I’m saving.”</a:t>
            </a:r>
            <a:endParaRPr sz="95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If I had more time</a:t>
            </a:r>
            <a:endParaRPr sz="95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74625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3F3F3"/>
              </a:buClr>
              <a:buSzPts val="950"/>
              <a:buFont typeface="Poppins Light"/>
              <a:buChar char="●"/>
            </a:pPr>
            <a:r>
              <a:rPr lang="en" sz="950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More feedback on Savings Page</a:t>
            </a:r>
            <a:endParaRPr sz="95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74625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950"/>
              <a:buFont typeface="Poppins Light"/>
              <a:buChar char="●"/>
            </a:pPr>
            <a:r>
              <a:rPr lang="en" sz="950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Budget tracking integrations</a:t>
            </a:r>
            <a:endParaRPr sz="95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74625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950"/>
              <a:buFont typeface="Poppins Light"/>
              <a:buChar char="●"/>
            </a:pPr>
            <a:r>
              <a:rPr lang="en" sz="950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Tool Tips</a:t>
            </a:r>
            <a:endParaRPr sz="95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76" name="Google Shape;176;p20"/>
          <p:cNvSpPr txBox="1"/>
          <p:nvPr>
            <p:ph type="title"/>
          </p:nvPr>
        </p:nvSpPr>
        <p:spPr>
          <a:xfrm>
            <a:off x="651575" y="457200"/>
            <a:ext cx="8032800" cy="5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3F3F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MEASURING SUCCESS</a:t>
            </a:r>
            <a:endParaRPr sz="16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651575" y="897275"/>
            <a:ext cx="339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999999"/>
                </a:solidFill>
                <a:latin typeface="Space Mono"/>
                <a:ea typeface="Space Mono"/>
                <a:cs typeface="Space Mono"/>
                <a:sym typeface="Space Mono"/>
              </a:rPr>
              <a:t>LEARNINGS + OPPORTUNITIES</a:t>
            </a:r>
            <a:endParaRPr sz="16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78" name="Google Shape;178;p20"/>
          <p:cNvPicPr preferRelativeResize="0"/>
          <p:nvPr/>
        </p:nvPicPr>
        <p:blipFill rotWithShape="1">
          <a:blip r:embed="rId3">
            <a:alphaModFix/>
          </a:blip>
          <a:srcRect b="1742" l="6678" r="6704" t="2002"/>
          <a:stretch/>
        </p:blipFill>
        <p:spPr>
          <a:xfrm>
            <a:off x="4634682" y="2125775"/>
            <a:ext cx="1218300" cy="2639700"/>
          </a:xfrm>
          <a:prstGeom prst="roundRect">
            <a:avLst>
              <a:gd fmla="val 13751" name="adj"/>
            </a:avLst>
          </a:prstGeom>
          <a:noFill/>
          <a:ln cap="flat" cmpd="sng" w="7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9" name="Google Shape;179;p20" title="New-Dashboard_Savings_Achievements_Trends.gif"/>
          <p:cNvPicPr preferRelativeResize="0"/>
          <p:nvPr/>
        </p:nvPicPr>
        <p:blipFill rotWithShape="1">
          <a:blip r:embed="rId4">
            <a:alphaModFix/>
          </a:blip>
          <a:srcRect b="7838" l="10392" r="10755" t="7872"/>
          <a:stretch/>
        </p:blipFill>
        <p:spPr>
          <a:xfrm>
            <a:off x="3291025" y="2125775"/>
            <a:ext cx="1199100" cy="2639700"/>
          </a:xfrm>
          <a:prstGeom prst="roundRect">
            <a:avLst>
              <a:gd fmla="val 14407" name="adj"/>
            </a:avLst>
          </a:prstGeom>
          <a:noFill/>
          <a:ln cap="flat" cmpd="sng" w="7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0" name="Google Shape;18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94251" y="1328375"/>
            <a:ext cx="2400600" cy="3437100"/>
          </a:xfrm>
          <a:prstGeom prst="roundRect">
            <a:avLst>
              <a:gd fmla="val 439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 txBox="1"/>
          <p:nvPr/>
        </p:nvSpPr>
        <p:spPr>
          <a:xfrm>
            <a:off x="651575" y="457200"/>
            <a:ext cx="46332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3F3F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🎃 </a:t>
            </a:r>
            <a:r>
              <a:rPr lang="en" sz="3200">
                <a:solidFill>
                  <a:srgbClr val="F3F3F3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 sz="3200">
              <a:solidFill>
                <a:srgbClr val="F3F3F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"/>
          <p:cNvSpPr txBox="1"/>
          <p:nvPr>
            <p:ph type="title"/>
          </p:nvPr>
        </p:nvSpPr>
        <p:spPr>
          <a:xfrm>
            <a:off x="651575" y="457200"/>
            <a:ext cx="3127200" cy="5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3F3F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APPENDIX</a:t>
            </a:r>
            <a:endParaRPr sz="3200">
              <a:solidFill>
                <a:srgbClr val="F3F3F3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91" name="Google Shape;191;p22"/>
          <p:cNvSpPr txBox="1"/>
          <p:nvPr>
            <p:ph idx="9" type="subTitle"/>
          </p:nvPr>
        </p:nvSpPr>
        <p:spPr>
          <a:xfrm>
            <a:off x="659772" y="1613425"/>
            <a:ext cx="3208500" cy="317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🔗 </a:t>
            </a:r>
            <a:r>
              <a:rPr lang="en" sz="1200" u="sng">
                <a:solidFill>
                  <a:schemeClr val="hlink"/>
                </a:solidFill>
                <a:latin typeface="Poppins Light"/>
                <a:ea typeface="Poppins Light"/>
                <a:cs typeface="Poppins Light"/>
                <a:sym typeface="Poppins Light"/>
                <a:hlinkClick r:id="rId3"/>
              </a:rPr>
              <a:t>Final Prototype</a:t>
            </a:r>
            <a:r>
              <a:rPr lang="en" sz="1200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 (Desktop)</a:t>
            </a:r>
            <a:endParaRPr sz="120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🔗 </a:t>
            </a:r>
            <a:r>
              <a:rPr lang="en" sz="1200" u="sng">
                <a:solidFill>
                  <a:schemeClr val="hlink"/>
                </a:solidFill>
                <a:latin typeface="Poppins Light"/>
                <a:ea typeface="Poppins Light"/>
                <a:cs typeface="Poppins Light"/>
                <a:sym typeface="Poppins Light"/>
                <a:hlinkClick r:id="rId4"/>
              </a:rPr>
              <a:t>Figjam Link</a:t>
            </a:r>
            <a:r>
              <a:rPr lang="en" sz="1200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 (Pages Collection)</a:t>
            </a:r>
            <a:endParaRPr sz="120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90500" lvl="0" marL="342900" rtl="0" algn="l">
              <a:spcBef>
                <a:spcPts val="12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Poppins Light"/>
              <a:buChar char="●"/>
            </a:pPr>
            <a:r>
              <a:rPr lang="en" sz="1200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Task analysis</a:t>
            </a:r>
            <a:endParaRPr sz="120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Poppins Light"/>
              <a:buChar char="●"/>
            </a:pPr>
            <a:r>
              <a:rPr lang="en" sz="1200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User Persona</a:t>
            </a:r>
            <a:endParaRPr sz="120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Poppins Light"/>
              <a:buChar char="●"/>
            </a:pPr>
            <a:r>
              <a:rPr lang="en" sz="1200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Persona Storyboard &amp; Timeline</a:t>
            </a:r>
            <a:endParaRPr sz="120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905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Poppins Light"/>
              <a:buChar char="●"/>
            </a:pPr>
            <a:r>
              <a:rPr lang="en" sz="1200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Wireflows</a:t>
            </a:r>
            <a:endParaRPr sz="120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905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Poppins Light"/>
              <a:buChar char="●"/>
            </a:pPr>
            <a:r>
              <a:rPr lang="en" sz="1200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Information Architecture</a:t>
            </a:r>
            <a:endParaRPr sz="120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🔗 </a:t>
            </a:r>
            <a:r>
              <a:rPr lang="en" sz="1200" u="sng">
                <a:solidFill>
                  <a:schemeClr val="hlink"/>
                </a:solidFill>
                <a:latin typeface="Poppins Light"/>
                <a:ea typeface="Poppins Light"/>
                <a:cs typeface="Poppins Light"/>
                <a:sym typeface="Poppins Light"/>
                <a:hlinkClick r:id="rId5"/>
              </a:rPr>
              <a:t>Heuristic analysis</a:t>
            </a:r>
            <a:endParaRPr sz="120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92" name="Google Shape;192;p22"/>
          <p:cNvSpPr txBox="1"/>
          <p:nvPr/>
        </p:nvSpPr>
        <p:spPr>
          <a:xfrm>
            <a:off x="659792" y="897275"/>
            <a:ext cx="277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999999"/>
                </a:solidFill>
                <a:latin typeface="Space Mono"/>
                <a:ea typeface="Space Mono"/>
                <a:cs typeface="Space Mono"/>
                <a:sym typeface="Space Mono"/>
              </a:rPr>
              <a:t>DELIVERABLES</a:t>
            </a:r>
            <a:endParaRPr sz="16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2276" y="649153"/>
            <a:ext cx="7419448" cy="43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3"/>
          <p:cNvSpPr txBox="1"/>
          <p:nvPr>
            <p:ph type="title"/>
          </p:nvPr>
        </p:nvSpPr>
        <p:spPr>
          <a:xfrm>
            <a:off x="152400" y="200550"/>
            <a:ext cx="8032800" cy="5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3F3F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TASK ANALYSIS</a:t>
            </a:r>
            <a:endParaRPr sz="24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99" name="Google Shape;199;p23"/>
          <p:cNvSpPr txBox="1"/>
          <p:nvPr/>
        </p:nvSpPr>
        <p:spPr>
          <a:xfrm>
            <a:off x="9625850" y="0"/>
            <a:ext cx="30000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Aisha Rivera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34, Nurse | Portland, Oregon | Goal-oriented smart home user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Wants to save up to $100 over 3 months for her family trip to Oaxaca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2345" y="637675"/>
            <a:ext cx="7419310" cy="4347249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4"/>
          <p:cNvSpPr txBox="1"/>
          <p:nvPr>
            <p:ph type="title"/>
          </p:nvPr>
        </p:nvSpPr>
        <p:spPr>
          <a:xfrm>
            <a:off x="152400" y="200550"/>
            <a:ext cx="8032800" cy="5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3F3F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USER PERSONA</a:t>
            </a:r>
            <a:endParaRPr sz="24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06" name="Google Shape;206;p24"/>
          <p:cNvSpPr txBox="1"/>
          <p:nvPr/>
        </p:nvSpPr>
        <p:spPr>
          <a:xfrm>
            <a:off x="9625850" y="0"/>
            <a:ext cx="30000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Aisha Rivera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34, Nurse | Portland, Oregon | Goal-oriented smart home user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Wants to save up to $100 over 3 months for her family trip to Oaxaca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5"/>
          <p:cNvSpPr txBox="1"/>
          <p:nvPr>
            <p:ph type="title"/>
          </p:nvPr>
        </p:nvSpPr>
        <p:spPr>
          <a:xfrm>
            <a:off x="152400" y="200550"/>
            <a:ext cx="8032800" cy="5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3F3F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WIREFLOWS</a:t>
            </a:r>
            <a:endParaRPr sz="24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12" name="Google Shape;212;p25"/>
          <p:cNvSpPr txBox="1"/>
          <p:nvPr/>
        </p:nvSpPr>
        <p:spPr>
          <a:xfrm>
            <a:off x="9625850" y="0"/>
            <a:ext cx="30000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Aisha Rivera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34, Nurse | Portland, Oregon | Goal-oriented smart home user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Wants to save up to $100 over 3 months for her family trip to Oaxaca</a:t>
            </a:r>
            <a:endParaRPr/>
          </a:p>
        </p:txBody>
      </p:sp>
      <p:pic>
        <p:nvPicPr>
          <p:cNvPr id="213" name="Google Shape;21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83755"/>
            <a:ext cx="9144003" cy="45005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2323" y="637650"/>
            <a:ext cx="7419351" cy="43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6"/>
          <p:cNvSpPr txBox="1"/>
          <p:nvPr>
            <p:ph type="title"/>
          </p:nvPr>
        </p:nvSpPr>
        <p:spPr>
          <a:xfrm>
            <a:off x="152400" y="200550"/>
            <a:ext cx="8032800" cy="5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3F3F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INFORMATION ARCHITECTURE</a:t>
            </a:r>
            <a:endParaRPr sz="24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20" name="Google Shape;220;p26"/>
          <p:cNvSpPr txBox="1"/>
          <p:nvPr/>
        </p:nvSpPr>
        <p:spPr>
          <a:xfrm>
            <a:off x="9625850" y="0"/>
            <a:ext cx="30000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Aisha Rivera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34, Nurse | Portland, Oregon | Goal-oriented smart home user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Wants to save up to $100 over 3 months for her family trip to Oaxaca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0975" y="2124200"/>
            <a:ext cx="2242800" cy="1457400"/>
          </a:xfrm>
          <a:prstGeom prst="roundRect">
            <a:avLst>
              <a:gd fmla="val 2891" name="adj"/>
            </a:avLst>
          </a:prstGeom>
          <a:noFill/>
          <a:ln>
            <a:noFill/>
          </a:ln>
        </p:spPr>
      </p:pic>
      <p:sp>
        <p:nvSpPr>
          <p:cNvPr id="226" name="Google Shape;226;p27"/>
          <p:cNvSpPr txBox="1"/>
          <p:nvPr>
            <p:ph type="title"/>
          </p:nvPr>
        </p:nvSpPr>
        <p:spPr>
          <a:xfrm>
            <a:off x="651575" y="457200"/>
            <a:ext cx="8032800" cy="5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3F3F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ENVISIONING THE USER</a:t>
            </a:r>
            <a:endParaRPr sz="16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27" name="Google Shape;227;p27"/>
          <p:cNvSpPr txBox="1"/>
          <p:nvPr/>
        </p:nvSpPr>
        <p:spPr>
          <a:xfrm>
            <a:off x="651575" y="897275"/>
            <a:ext cx="6408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999999"/>
                </a:solidFill>
                <a:latin typeface="Space Mono"/>
                <a:ea typeface="Space Mono"/>
                <a:cs typeface="Space Mono"/>
                <a:sym typeface="Space Mono"/>
              </a:rPr>
              <a:t>MOTIVATED COMFORT-USER</a:t>
            </a:r>
            <a:endParaRPr sz="16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28" name="Google Shape;228;p27"/>
          <p:cNvPicPr preferRelativeResize="0"/>
          <p:nvPr/>
        </p:nvPicPr>
        <p:blipFill rotWithShape="1">
          <a:blip r:embed="rId4">
            <a:alphaModFix/>
          </a:blip>
          <a:srcRect b="1572" l="896" r="571" t="1368"/>
          <a:stretch/>
        </p:blipFill>
        <p:spPr>
          <a:xfrm>
            <a:off x="749150" y="1714263"/>
            <a:ext cx="2612625" cy="2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7"/>
          <p:cNvSpPr txBox="1"/>
          <p:nvPr/>
        </p:nvSpPr>
        <p:spPr>
          <a:xfrm>
            <a:off x="9625850" y="0"/>
            <a:ext cx="30000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Aisha Rivera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34, Nurse | Portland, Oregon | Goal-oriented smart home user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Wants to save up to $100 over 3 months for her family trip to Oaxaca</a:t>
            </a:r>
            <a:endParaRPr/>
          </a:p>
        </p:txBody>
      </p:sp>
      <p:sp>
        <p:nvSpPr>
          <p:cNvPr id="230" name="Google Shape;230;p27"/>
          <p:cNvSpPr txBox="1"/>
          <p:nvPr>
            <p:ph idx="9" type="subTitle"/>
          </p:nvPr>
        </p:nvSpPr>
        <p:spPr>
          <a:xfrm>
            <a:off x="3638675" y="1613425"/>
            <a:ext cx="2658900" cy="263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3F3F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Aisha Rivera </a:t>
            </a:r>
            <a:br>
              <a:rPr lang="en" sz="1200">
                <a:solidFill>
                  <a:srgbClr val="F3F3F3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r>
              <a:rPr lang="en" sz="1200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34 year-old nurse living in Portland, OR with her partner and son. A goal-oriented smart home user who wants to:</a:t>
            </a:r>
            <a:endParaRPr sz="120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F3F3F3"/>
                </a:solidFill>
                <a:latin typeface="Poppins Light"/>
                <a:ea typeface="Poppins Light"/>
                <a:cs typeface="Poppins Light"/>
                <a:sym typeface="Poppins Light"/>
              </a:rPr>
              <a:t>Save $100 in 3 months for her family trip to Oaxaca.</a:t>
            </a:r>
            <a:endParaRPr sz="1200">
              <a:solidFill>
                <a:srgbClr val="F3F3F3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